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</c:v>
                </c:pt>
              </c:strCache>
            </c:strRef>
          </c:tx>
          <c:spPr>
            <a:solidFill>
              <a:srgbClr val="E525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Generic</c:v>
                </c:pt>
                <c:pt idx="1">
                  <c:v>Personalized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30-4788-BD4D-C829F383B2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43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4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43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43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4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8141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8141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25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830-441F-9558-4AFAAFC4355C}"/>
              </c:ext>
            </c:extLst>
          </c:dPt>
          <c:dPt>
            <c:idx val="1"/>
            <c:bubble3D val="0"/>
            <c:spPr>
              <a:solidFill>
                <a:srgbClr val="5B2A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30-441F-9558-4AFAAFC4355C}"/>
              </c:ext>
            </c:extLst>
          </c:dPt>
          <c:dPt>
            <c:idx val="2"/>
            <c:bubble3D val="0"/>
            <c:spPr>
              <a:solidFill>
                <a:srgbClr val="D4AF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830-441F-9558-4AFAAFC4355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830-441F-9558-4AFAAFC4355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830-441F-9558-4AFAAFC4355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830-441F-9558-4AFAAFC4355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Content Similarity</c:v>
                </c:pt>
                <c:pt idx="1">
                  <c:v>Genre Match</c:v>
                </c:pt>
                <c:pt idx="2">
                  <c:v>Popularity 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830-441F-9558-4AFAAFC435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9A94A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814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82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stakes: content volume has outpaced human browsing capacity. Personalization isn't a nice-to-have, it's the difference between a user staying or churning.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recommendation systems as an applied ML problem, then ground it with recognizable examples across streaming, retail, and music — the same techniques transfer across 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five objectives as a single connected narrative: better matching leads to better UX, which leads to less search time — accuracy and technique demonstration are how we prove it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 of the stack: Python core, Pandas/NumPy for data wrangling, Scikit-learn for similarity computation, Streamlit for the demo UI, Jupyter for exploration — sourced from the MovieLens / TMDB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the recommendation engine stage (highlighted) as the core deliverable — everything before it prepares data, everything after it surfaces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technical core — be ready to explain TF-IDF and cosine similarity in one sentence each if judges probe: TF-IDF weights distinctive words per movie, cosine similarity measures the angle between those weighted vectors.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demo if possible: select Interstellar in the UI and show the five ranked results with similarity scores. The percentage under each poster is the cosine-similarity score converted to a match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shows the simulated engagement lift personalization delivers over a generic top-rated list. The pie chart breaks down what's actually driving each recommendation — mostly content similarity, with genre and popularity as secondary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Applications show the model generalizes beyond movies — same math, different catalog. Future scope prioritizes hybrid modeling and real-time feedback as the next concrete steps after this hackathon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these proactively shows judges the team understands real-world deployment concerns, not just a happy-path demo. Cold start and scalability are the two most likely to be asked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back to the problem statement: personalization measurably improves engagement, and this pipeline proves the core technique works end to end. Invite questions and be ready to re-run the live demo with a different seed movie.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8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7.png"/><Relationship Id="rId3" Type="http://schemas.openxmlformats.org/officeDocument/2006/relationships/image" Target="../media/image31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34.png"/><Relationship Id="rId5" Type="http://schemas.openxmlformats.org/officeDocument/2006/relationships/image" Target="../media/image6.png"/><Relationship Id="rId10" Type="http://schemas.openxmlformats.org/officeDocument/2006/relationships/image" Target="../media/image33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0"/>
            <a:ext cx="7315200" cy="7315200"/>
          </a:xfrm>
          <a:prstGeom prst="ellipse">
            <a:avLst/>
          </a:prstGeom>
          <a:solidFill>
            <a:srgbClr val="9B1B3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657600"/>
            <a:ext cx="6400800" cy="6400800"/>
          </a:xfrm>
          <a:prstGeom prst="ellipse">
            <a:avLst/>
          </a:prstGeom>
          <a:solidFill>
            <a:srgbClr val="5B2A8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HACKATHON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8503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Movie </a:t>
            </a:r>
            <a:r>
              <a:rPr lang="en-US" sz="5000" b="1" dirty="0">
                <a:solidFill>
                  <a:srgbClr val="E525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 </a:t>
            </a:r>
            <a:r>
              <a:rPr lang="en-US" sz="5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9646920" y="1371600"/>
            <a:ext cx="1828800" cy="1828800"/>
          </a:xfrm>
          <a:prstGeom prst="ellipse">
            <a:avLst/>
          </a:prstGeom>
          <a:solidFill>
            <a:srgbClr val="18141F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201168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3977640"/>
            <a:ext cx="6492240" cy="1965960"/>
          </a:xfrm>
          <a:prstGeom prst="roundRect">
            <a:avLst>
              <a:gd name="adj" fmla="val 4651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062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97280" y="459028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M. Lekha Sri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Durga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Lasya Geethika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420624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7760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937760" y="4572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Data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 Many Movies, Too Little Signal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titles </a:t>
            </a:r>
            <a:r>
              <a:rPr lang="en-US" sz="14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released every year across dozens of streaming platforms — far more than any viewer can browse manually.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Generic, one-size-fits-all suggestions </a:t>
            </a:r>
            <a:r>
              <a:rPr lang="en-US" sz="14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users scrolling endlessly, reducing satisfaction and watch-time on the platform.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3931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 </a:t>
            </a:r>
            <a:r>
              <a:rPr lang="en-US" sz="14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improve engagement, retention and the overall viewing experience.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37960" y="173736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0372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PROBLEM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903720" y="2468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25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500K+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903720" y="3182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across major platforms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03720" y="36393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25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903720" y="4352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watch-time driven by recommendations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03720" y="480974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525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&lt;3 min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903720" y="55229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user abandons browsing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Recommendation System?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91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system </a:t>
            </a:r>
            <a:r>
              <a:rPr lang="en-US" sz="14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data-science technique that predicts what a user will like, based on patterns in their behavior and content attributes — a core application of applied machine learning.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RECOMMENDATION ENGINES DRIVE VALUE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27048" y="3337560"/>
            <a:ext cx="585216" cy="58521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352" y="348386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40690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3273552" y="310896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51960" y="3337560"/>
            <a:ext cx="585216" cy="58521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264" y="348386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73552" y="40690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998464" y="310896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76872" y="3337560"/>
            <a:ext cx="585216" cy="58521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176" y="348386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998464" y="40690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Apps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8723376" y="3108960"/>
            <a:ext cx="2542032" cy="1600200"/>
          </a:xfrm>
          <a:prstGeom prst="roundRect">
            <a:avLst>
              <a:gd name="adj" fmla="val 5714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701784" y="3337560"/>
            <a:ext cx="585216" cy="58521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088" y="3483864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723376" y="40690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 / OTT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48640" y="50292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</a:t>
            </a:r>
            <a:r>
              <a:rPr lang="en-US" sz="13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personalization layer — learning similarity between items and users to rank content no static rule set could match.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This Project Sets Out to 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289304" y="2148840"/>
            <a:ext cx="621792" cy="62179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23042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by Preference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13232" y="365760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movies matched to each user's taste profile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75204" y="182880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15868" y="2148840"/>
            <a:ext cx="621792" cy="62179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16" y="230428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12364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User Experience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939796" y="365760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discovery feel effortless, not exhausting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01768" y="182880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742432" y="2148840"/>
            <a:ext cx="621792" cy="62179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2304288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38928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Search Time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166360" y="365760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time spent browsing before watching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228332" y="182880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968996" y="2148840"/>
            <a:ext cx="621792" cy="62179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4444" y="230428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65492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Accuracy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392924" y="365760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relevance of every suggestion shown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454896" y="182880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195560" y="2148840"/>
            <a:ext cx="621792" cy="62179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1008" y="2304288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592056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DS Techniques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9619488" y="365760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core data-science methods end-to-end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2084832"/>
            <a:ext cx="914400" cy="91440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86000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182880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178808" y="1828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2084832"/>
            <a:ext cx="914400" cy="91440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2286000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04688" y="182880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7808976" y="18288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065008" y="2084832"/>
            <a:ext cx="914400" cy="91440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2286000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34856" y="182880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700" dirty="0"/>
          </a:p>
        </p:txBody>
      </p:sp>
      <p:sp>
        <p:nvSpPr>
          <p:cNvPr id="18" name="Shape 12"/>
          <p:cNvSpPr/>
          <p:nvPr/>
        </p:nvSpPr>
        <p:spPr>
          <a:xfrm>
            <a:off x="548640" y="3474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04672" y="3730752"/>
            <a:ext cx="914400" cy="91440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931920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874520" y="347472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700" dirty="0"/>
          </a:p>
        </p:txBody>
      </p:sp>
      <p:sp>
        <p:nvSpPr>
          <p:cNvPr id="22" name="Shape 15"/>
          <p:cNvSpPr/>
          <p:nvPr/>
        </p:nvSpPr>
        <p:spPr>
          <a:xfrm>
            <a:off x="4178808" y="3474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434840" y="3730752"/>
            <a:ext cx="914400" cy="91440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008" y="3931920"/>
            <a:ext cx="512064" cy="51206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04688" y="347472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26" name="Shape 18"/>
          <p:cNvSpPr/>
          <p:nvPr/>
        </p:nvSpPr>
        <p:spPr>
          <a:xfrm>
            <a:off x="7808976" y="3474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8065008" y="3730752"/>
            <a:ext cx="914400" cy="91440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6176" y="3931920"/>
            <a:ext cx="512064" cy="51206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134856" y="3474720"/>
            <a:ext cx="1965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700" dirty="0"/>
          </a:p>
        </p:txBody>
      </p:sp>
      <p:sp>
        <p:nvSpPr>
          <p:cNvPr id="30" name="Shape 21"/>
          <p:cNvSpPr/>
          <p:nvPr/>
        </p:nvSpPr>
        <p:spPr>
          <a:xfrm>
            <a:off x="7955280" y="516636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138160" y="5330952"/>
            <a:ext cx="530352" cy="53035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6176" y="5458968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8823960" y="51663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/ TMDB Dataset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2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423160"/>
            <a:ext cx="1755648" cy="1371600"/>
          </a:xfrm>
          <a:prstGeom prst="roundRect">
            <a:avLst>
              <a:gd name="adj" fmla="val 6667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52144" y="2606040"/>
            <a:ext cx="548640" cy="54864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27432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291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8860" y="3008376"/>
            <a:ext cx="201168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432304" y="2423160"/>
            <a:ext cx="1755648" cy="1371600"/>
          </a:xfrm>
          <a:prstGeom prst="roundRect">
            <a:avLst>
              <a:gd name="adj" fmla="val 6667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3035808" y="2606040"/>
            <a:ext cx="548640" cy="54864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2968" y="27432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523744" y="3291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2524" y="3008376"/>
            <a:ext cx="201168" cy="20116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315968" y="2423160"/>
            <a:ext cx="1755648" cy="1371600"/>
          </a:xfrm>
          <a:prstGeom prst="roundRect">
            <a:avLst>
              <a:gd name="adj" fmla="val 6667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919472" y="2606040"/>
            <a:ext cx="548640" cy="54864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6632" y="274320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407408" y="3291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188" y="3008376"/>
            <a:ext cx="201168" cy="20116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199632" y="2423160"/>
            <a:ext cx="1755648" cy="1371600"/>
          </a:xfrm>
          <a:prstGeom prst="roundRect">
            <a:avLst>
              <a:gd name="adj" fmla="val 6667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6803136" y="2606040"/>
            <a:ext cx="548640" cy="54864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0296" y="2743200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291072" y="3291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Calculation</a:t>
            </a:r>
            <a:endParaRPr lang="en-US" sz="11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852" y="3008376"/>
            <a:ext cx="201168" cy="201168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8083296" y="2423160"/>
            <a:ext cx="1755648" cy="1371600"/>
          </a:xfrm>
          <a:prstGeom prst="roundRect">
            <a:avLst>
              <a:gd name="adj" fmla="val 6667"/>
            </a:avLst>
          </a:prstGeom>
          <a:solidFill>
            <a:srgbClr val="9B1B33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8686800" y="260604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960" y="2743200"/>
            <a:ext cx="274320" cy="27432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8174736" y="3291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1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3516" y="3008376"/>
            <a:ext cx="201168" cy="201168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9966960" y="2423160"/>
            <a:ext cx="1755648" cy="1371600"/>
          </a:xfrm>
          <a:prstGeom prst="roundRect">
            <a:avLst>
              <a:gd name="adj" fmla="val 6667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19"/>
          <p:cNvSpPr/>
          <p:nvPr/>
        </p:nvSpPr>
        <p:spPr>
          <a:xfrm>
            <a:off x="10570464" y="2606040"/>
            <a:ext cx="548640" cy="548640"/>
          </a:xfrm>
          <a:prstGeom prst="ellipse">
            <a:avLst/>
          </a:prstGeom>
          <a:solidFill>
            <a:srgbClr val="3A2158"/>
          </a:solidFill>
          <a:ln/>
        </p:spPr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7624" y="2743200"/>
            <a:ext cx="274320" cy="27432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10058400" y="32918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35" name="Text 21"/>
          <p:cNvSpPr/>
          <p:nvPr/>
        </p:nvSpPr>
        <p:spPr>
          <a:xfrm>
            <a:off x="54864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linear stages take raw viewing data all the way to an on-screen recommendation.</a:t>
            </a:r>
            <a:endParaRPr lang="en-US" sz="1300" dirty="0"/>
          </a:p>
        </p:txBody>
      </p:sp>
      <p:sp>
        <p:nvSpPr>
          <p:cNvPr id="36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Engine Actually Works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2121408"/>
            <a:ext cx="530352" cy="53035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2253996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8836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Data Collection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17320" y="22860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movie metadata, genres, cast &amp; ratings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737360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373368" y="2121408"/>
            <a:ext cx="530352" cy="53035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2253996"/>
            <a:ext cx="265176" cy="265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8836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 Preprocessing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040880" y="22860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 values and normalize fields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163824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547872"/>
            <a:ext cx="530352" cy="53035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" y="3680460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3101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Feature Engineering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417320" y="371246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genre, cast &amp; keywords into feature text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72200" y="3163824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373368" y="3547872"/>
            <a:ext cx="530352" cy="53035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680460"/>
            <a:ext cx="265176" cy="2651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0" y="33101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TF-IDF / Count Vectorization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040880" y="371246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features into numeric vectors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48640" y="459028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49808" y="4974336"/>
            <a:ext cx="530352" cy="530352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396" y="5106924"/>
            <a:ext cx="265176" cy="26517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17320" y="47365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Cosine Similarity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1417320" y="513892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closeness between every movie pair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172200" y="4590288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373368" y="4974336"/>
            <a:ext cx="530352" cy="530352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956" y="5106924"/>
            <a:ext cx="265176" cy="26517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40880" y="47365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Recommendation Generation</a:t>
            </a:r>
            <a:endParaRPr lang="en-US" sz="1350" dirty="0"/>
          </a:p>
        </p:txBody>
      </p:sp>
      <p:sp>
        <p:nvSpPr>
          <p:cNvPr id="35" name="Text 26"/>
          <p:cNvSpPr/>
          <p:nvPr/>
        </p:nvSpPr>
        <p:spPr>
          <a:xfrm>
            <a:off x="7040880" y="513892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and return the closest matching titles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Working Demonstration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743200" cy="4114800"/>
          </a:xfrm>
          <a:prstGeom prst="roundRect">
            <a:avLst>
              <a:gd name="adj" fmla="val 3333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" y="2377440"/>
            <a:ext cx="2194560" cy="2743200"/>
          </a:xfrm>
          <a:prstGeom prst="roundRect">
            <a:avLst>
              <a:gd name="adj" fmla="val 3333"/>
            </a:avLst>
          </a:prstGeom>
          <a:solidFill>
            <a:srgbClr val="3A215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2461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Interstellar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434840"/>
            <a:ext cx="201168" cy="201168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4434840"/>
            <a:ext cx="201168" cy="201168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434840"/>
            <a:ext cx="201168" cy="20116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4434840"/>
            <a:ext cx="201168" cy="201168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434840"/>
            <a:ext cx="201168" cy="20116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22960" y="5166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 • Drama</a:t>
            </a:r>
            <a:endParaRPr lang="en-US" sz="10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3611880"/>
            <a:ext cx="411480" cy="41148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16052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MOVIES</a:t>
            </a:r>
            <a:endParaRPr lang="en-US" sz="1050" dirty="0"/>
          </a:p>
        </p:txBody>
      </p:sp>
      <p:sp>
        <p:nvSpPr>
          <p:cNvPr id="19" name="Shape 9"/>
          <p:cNvSpPr/>
          <p:nvPr/>
        </p:nvSpPr>
        <p:spPr>
          <a:xfrm>
            <a:off x="4160520" y="2331720"/>
            <a:ext cx="1408176" cy="2743200"/>
          </a:xfrm>
          <a:prstGeom prst="roundRect">
            <a:avLst>
              <a:gd name="adj" fmla="val 5195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</p:spPr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108960"/>
            <a:ext cx="438912" cy="43891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160520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100" dirty="0"/>
          </a:p>
        </p:txBody>
      </p:sp>
      <p:sp>
        <p:nvSpPr>
          <p:cNvPr id="22" name="Text 11"/>
          <p:cNvSpPr/>
          <p:nvPr/>
        </p:nvSpPr>
        <p:spPr>
          <a:xfrm>
            <a:off x="4215384" y="37490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Martian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5696712" y="2331720"/>
            <a:ext cx="1408176" cy="2743200"/>
          </a:xfrm>
          <a:prstGeom prst="roundRect">
            <a:avLst>
              <a:gd name="adj" fmla="val 5195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</p:spPr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3108960"/>
            <a:ext cx="438912" cy="438912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696712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100" dirty="0"/>
          </a:p>
        </p:txBody>
      </p:sp>
      <p:sp>
        <p:nvSpPr>
          <p:cNvPr id="26" name="Text 14"/>
          <p:cNvSpPr/>
          <p:nvPr/>
        </p:nvSpPr>
        <p:spPr>
          <a:xfrm>
            <a:off x="5751576" y="37490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100" dirty="0"/>
          </a:p>
        </p:txBody>
      </p:sp>
      <p:sp>
        <p:nvSpPr>
          <p:cNvPr id="27" name="Shape 15"/>
          <p:cNvSpPr/>
          <p:nvPr/>
        </p:nvSpPr>
        <p:spPr>
          <a:xfrm>
            <a:off x="7232904" y="2331720"/>
            <a:ext cx="1408176" cy="2743200"/>
          </a:xfrm>
          <a:prstGeom prst="roundRect">
            <a:avLst>
              <a:gd name="adj" fmla="val 5195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</p:spPr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3108960"/>
            <a:ext cx="438912" cy="43891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232904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100" dirty="0"/>
          </a:p>
        </p:txBody>
      </p:sp>
      <p:sp>
        <p:nvSpPr>
          <p:cNvPr id="30" name="Text 17"/>
          <p:cNvSpPr/>
          <p:nvPr/>
        </p:nvSpPr>
        <p:spPr>
          <a:xfrm>
            <a:off x="7287768" y="37490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</a:t>
            </a:r>
            <a:endParaRPr lang="en-US" sz="1100" dirty="0"/>
          </a:p>
        </p:txBody>
      </p:sp>
      <p:sp>
        <p:nvSpPr>
          <p:cNvPr id="31" name="Shape 18"/>
          <p:cNvSpPr/>
          <p:nvPr/>
        </p:nvSpPr>
        <p:spPr>
          <a:xfrm>
            <a:off x="8769096" y="2331720"/>
            <a:ext cx="1408176" cy="2743200"/>
          </a:xfrm>
          <a:prstGeom prst="roundRect">
            <a:avLst>
              <a:gd name="adj" fmla="val 5195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</p:spPr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3108960"/>
            <a:ext cx="438912" cy="43891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8769096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34" name="Text 20"/>
          <p:cNvSpPr/>
          <p:nvPr/>
        </p:nvSpPr>
        <p:spPr>
          <a:xfrm>
            <a:off x="8823960" y="37490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100" dirty="0"/>
          </a:p>
        </p:txBody>
      </p:sp>
      <p:sp>
        <p:nvSpPr>
          <p:cNvPr id="35" name="Shape 21"/>
          <p:cNvSpPr/>
          <p:nvPr/>
        </p:nvSpPr>
        <p:spPr>
          <a:xfrm>
            <a:off x="10305288" y="2331720"/>
            <a:ext cx="1408176" cy="2743200"/>
          </a:xfrm>
          <a:prstGeom prst="roundRect">
            <a:avLst>
              <a:gd name="adj" fmla="val 5195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</p:spPr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3108960"/>
            <a:ext cx="438912" cy="438912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10305288" y="2468880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25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38" name="Text 23"/>
          <p:cNvSpPr/>
          <p:nvPr/>
        </p:nvSpPr>
        <p:spPr>
          <a:xfrm>
            <a:off x="10360152" y="37490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Astra</a:t>
            </a:r>
            <a:endParaRPr lang="en-US" sz="1100" dirty="0"/>
          </a:p>
        </p:txBody>
      </p:sp>
      <p:sp>
        <p:nvSpPr>
          <p:cNvPr id="39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0" name="Text 2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&amp; Performance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91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&lt;200ms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recommendation latency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60520" y="169164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389120" y="1691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38912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match accuracy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169164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01000" y="169164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4.6 / 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00100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user satisfaction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15468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LIFT VS. GENERIC LIST</a:t>
            </a:r>
            <a:endParaRPr lang="en-US" sz="10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822960" y="3657600"/>
          <a:ext cx="4800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6263640" y="315468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53796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SOURCE MIX</a:t>
            </a:r>
            <a:endParaRPr lang="en-US" sz="1050" dirty="0"/>
          </a:p>
        </p:txBody>
      </p:sp>
      <p:graphicFrame>
        <p:nvGraphicFramePr>
          <p:cNvPr id="20" name="Chart 1"/>
          <p:cNvGraphicFramePr/>
          <p:nvPr/>
        </p:nvGraphicFramePr>
        <p:xfrm>
          <a:off x="6720840" y="3657600"/>
          <a:ext cx="46634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 &amp; Future Scope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2423160"/>
            <a:ext cx="402336" cy="40233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523744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242316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Streaming Platforms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3044952"/>
            <a:ext cx="402336" cy="40233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31455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304495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&amp; E-commerce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22960" y="3666744"/>
            <a:ext cx="402336" cy="40233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376732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53312" y="366674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Streaming Apps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22960" y="4288536"/>
            <a:ext cx="402336" cy="40233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4389120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53312" y="428853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 / OTT Devices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822960" y="4910328"/>
            <a:ext cx="402336" cy="40233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" y="5010912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53312" y="49103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Discovery Portals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6263640" y="173736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653796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537960" y="2423160"/>
            <a:ext cx="402336" cy="402336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544" y="2523744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068312" y="242316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537960" y="3044952"/>
            <a:ext cx="402336" cy="402336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544" y="3145536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068312" y="304495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System</a:t>
            </a:r>
            <a:endParaRPr lang="en-US" sz="1300" dirty="0"/>
          </a:p>
        </p:txBody>
      </p:sp>
      <p:sp>
        <p:nvSpPr>
          <p:cNvPr id="31" name="Shape 21"/>
          <p:cNvSpPr/>
          <p:nvPr/>
        </p:nvSpPr>
        <p:spPr>
          <a:xfrm>
            <a:off x="6537960" y="3666744"/>
            <a:ext cx="402336" cy="402336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8544" y="3767328"/>
            <a:ext cx="201168" cy="20116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068312" y="366674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User Feedback</a:t>
            </a:r>
            <a:endParaRPr lang="en-US" sz="1300" dirty="0"/>
          </a:p>
        </p:txBody>
      </p:sp>
      <p:sp>
        <p:nvSpPr>
          <p:cNvPr id="34" name="Shape 23"/>
          <p:cNvSpPr/>
          <p:nvPr/>
        </p:nvSpPr>
        <p:spPr>
          <a:xfrm>
            <a:off x="6537960" y="4288536"/>
            <a:ext cx="402336" cy="402336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8544" y="4389120"/>
            <a:ext cx="201168" cy="20116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068312" y="428853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37" name="Shape 25"/>
          <p:cNvSpPr/>
          <p:nvPr/>
        </p:nvSpPr>
        <p:spPr>
          <a:xfrm>
            <a:off x="6537960" y="4910328"/>
            <a:ext cx="402336" cy="402336"/>
          </a:xfrm>
          <a:prstGeom prst="ellipse">
            <a:avLst/>
          </a:prstGeom>
          <a:solidFill>
            <a:srgbClr val="5B2A86"/>
          </a:solidFill>
          <a:ln/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8544" y="5010912"/>
            <a:ext cx="201168" cy="20116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7068312" y="49103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Integration</a:t>
            </a:r>
            <a:endParaRPr lang="en-US" sz="1300" dirty="0"/>
          </a:p>
        </p:txBody>
      </p:sp>
      <p:sp>
        <p:nvSpPr>
          <p:cNvPr id="40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Text 2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63093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We Navigated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07592" y="2194560"/>
            <a:ext cx="585216" cy="58521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896" y="2340864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2971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Problem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13232" y="361188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or movies lack enough history to match well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75204" y="18745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34156" y="2194560"/>
            <a:ext cx="585216" cy="58521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460" y="234086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12364" y="2971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Data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939796" y="361188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user-item interactions are missing, not negative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01768" y="18745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760720" y="2194560"/>
            <a:ext cx="585216" cy="58521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024" y="234086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38928" y="2971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166360" y="361188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computation grows fast with catalog size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228332" y="18745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F1829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987284" y="2194560"/>
            <a:ext cx="585216" cy="58521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3588" y="2340864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65492" y="2971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7392924" y="361188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 data must be handled responsibly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454896" y="18745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213848" y="2194560"/>
            <a:ext cx="585216" cy="585216"/>
          </a:xfrm>
          <a:prstGeom prst="ellipse">
            <a:avLst/>
          </a:prstGeom>
          <a:solidFill>
            <a:srgbClr val="9B1B33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0152" y="2340864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592056" y="2971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Recommendations</a:t>
            </a:r>
            <a:endParaRPr lang="en-US" sz="1250" dirty="0"/>
          </a:p>
        </p:txBody>
      </p:sp>
      <p:sp>
        <p:nvSpPr>
          <p:cNvPr id="30" name="Text 22"/>
          <p:cNvSpPr/>
          <p:nvPr/>
        </p:nvSpPr>
        <p:spPr>
          <a:xfrm>
            <a:off x="9619488" y="3611880"/>
            <a:ext cx="17739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titles can crowd out relevant niche picks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011680"/>
            <a:ext cx="7315200" cy="7315200"/>
          </a:xfrm>
          <a:prstGeom prst="ellipse">
            <a:avLst/>
          </a:prstGeom>
          <a:solidFill>
            <a:srgbClr val="9B1B3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468880" y="3840480"/>
            <a:ext cx="6400800" cy="6400800"/>
          </a:xfrm>
          <a:prstGeom prst="ellipse">
            <a:avLst/>
          </a:prstGeom>
          <a:solidFill>
            <a:srgbClr val="5B2A8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784080" y="914400"/>
            <a:ext cx="1554480" cy="1554480"/>
          </a:xfrm>
          <a:prstGeom prst="ellipse">
            <a:avLst/>
          </a:prstGeom>
          <a:solidFill>
            <a:srgbClr val="18141F"/>
          </a:solidFill>
          <a:ln w="19050">
            <a:solidFill>
              <a:srgbClr val="D4AF3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2" y="141732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2423160"/>
            <a:ext cx="10515600" cy="3611880"/>
          </a:xfrm>
          <a:prstGeom prst="roundRect">
            <a:avLst>
              <a:gd name="adj" fmla="val 2532"/>
            </a:avLst>
          </a:prstGeom>
          <a:solidFill>
            <a:srgbClr val="18141F"/>
          </a:solidFill>
          <a:ln w="12700">
            <a:solidFill>
              <a:srgbClr val="2A243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143000" y="2633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540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296265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content-based recommendation engine using TF-IDF and cosine similarity.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87705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6192" y="378561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fast, personalized movie suggestions from a real-world MovieLens/TMDB dataset.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700016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6192" y="460857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a complete data-science pipeline: cleaning, feature engineering, modeling, UI.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7818120" y="2697480"/>
            <a:ext cx="0" cy="3108960"/>
          </a:xfrm>
          <a:prstGeom prst="line">
            <a:avLst/>
          </a:prstGeom>
          <a:noFill/>
          <a:ln w="12700">
            <a:solidFill>
              <a:srgbClr val="2A2436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046720" y="2633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046720" y="3118104"/>
            <a:ext cx="91440" cy="91440"/>
          </a:xfrm>
          <a:prstGeom prst="ellipse">
            <a:avLst/>
          </a:prstGeom>
          <a:solidFill>
            <a:srgbClr val="E5253F"/>
          </a:solidFill>
          <a:ln/>
        </p:spPr>
      </p:sp>
      <p:sp>
        <p:nvSpPr>
          <p:cNvPr id="19" name="Text 13"/>
          <p:cNvSpPr/>
          <p:nvPr/>
        </p:nvSpPr>
        <p:spPr>
          <a:xfrm>
            <a:off x="8275320" y="299008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 &amp; similarity metrics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046720" y="3739896"/>
            <a:ext cx="91440" cy="91440"/>
          </a:xfrm>
          <a:prstGeom prst="ellipse">
            <a:avLst/>
          </a:prstGeom>
          <a:solidFill>
            <a:srgbClr val="E5253F"/>
          </a:solidFill>
          <a:ln/>
        </p:spPr>
      </p:sp>
      <p:sp>
        <p:nvSpPr>
          <p:cNvPr id="21" name="Text 15"/>
          <p:cNvSpPr/>
          <p:nvPr/>
        </p:nvSpPr>
        <p:spPr>
          <a:xfrm>
            <a:off x="8275320" y="3611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sparse, real-world data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046720" y="4361688"/>
            <a:ext cx="91440" cy="91440"/>
          </a:xfrm>
          <a:prstGeom prst="ellipse">
            <a:avLst/>
          </a:prstGeom>
          <a:solidFill>
            <a:srgbClr val="E5253F"/>
          </a:solidFill>
          <a:ln/>
        </p:spPr>
      </p:sp>
      <p:sp>
        <p:nvSpPr>
          <p:cNvPr id="23" name="Text 17"/>
          <p:cNvSpPr/>
          <p:nvPr/>
        </p:nvSpPr>
        <p:spPr>
          <a:xfrm>
            <a:off x="8275320" y="42336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systems' real impact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2296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Hackathon  •  Team: Member 1, Member 2, Member 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1038</Words>
  <Application>Microsoft Office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 System</dc:title>
  <dc:subject>PptxGenJS Presentation</dc:subject>
  <dc:creator>Data Science Hackathon Team</dc:creator>
  <cp:lastModifiedBy>jayaramreddy janipally</cp:lastModifiedBy>
  <cp:revision>2</cp:revision>
  <dcterms:created xsi:type="dcterms:W3CDTF">2026-07-01T07:55:41Z</dcterms:created>
  <dcterms:modified xsi:type="dcterms:W3CDTF">2026-07-01T15:08:03Z</dcterms:modified>
</cp:coreProperties>
</file>